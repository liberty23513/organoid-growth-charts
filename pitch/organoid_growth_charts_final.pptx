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F5FA8"/>
                </a:solidFill>
              </a:defRPr>
            </a:pPr>
            <a:r>
              <a:t>Organoid growth charts</a:t>
            </a:r>
          </a:p>
          <a:p>
            <a:pPr>
              <a:defRPr sz="2400">
                <a:solidFill>
                  <a:srgbClr val="202020"/>
                </a:solidFill>
              </a:defRPr>
            </a:pPr>
            <a:r>
              <a:t>Centile curves and z-scores for brain-organoid cell-type composition</a:t>
            </a:r>
          </a:p>
          <a:p>
            <a:r>
              <a:t> 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Pediatric growth charts place one child on a percentile curve. We built the same for brain organoids from 322 public samples, and measured how many organoids a lab needs to draw one.</a:t>
            </a:r>
          </a:p>
        </p:txBody>
      </p:sp>
      <p:pic>
        <p:nvPicPr>
          <p:cNvPr id="3" name="Picture 2" descr="final_velasco_n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931920"/>
            <a:ext cx="4846320" cy="2290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Brainhack Montreal, Oct 5 to 7, 2026  |  Boting Li, Selene Zhang  |  github.com/Liberty23513/organoid-growth-charts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5FA8"/>
                </a:solidFill>
              </a:defRPr>
            </a:pPr>
            <a:r>
              <a:t>Problem: labs make thousands of brain organoids and judge "normal" by 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02020"/>
                </a:solidFill>
              </a:defRPr>
            </a:pPr>
            <a:r>
              <a:t>• A brain organoid is a 1 to 3 mm ball of human brain tissue grown from stem cells over weeks to months.</a:t>
            </a:r>
          </a:p>
          <a:p>
            <a:pPr>
              <a:spcAft>
                <a:spcPts val="700"/>
              </a:spcAft>
              <a:defRPr sz="1900">
                <a:solidFill>
                  <a:srgbClr val="202020"/>
                </a:solidFill>
              </a:defRPr>
            </a:pPr>
            <a:r>
              <a:t>• Batch-to-batch and lab-to-lab variability is the field's known weakness. The question every lab asks is "is this batch normal for its age?"</a:t>
            </a:r>
          </a:p>
          <a:p>
            <a:pPr>
              <a:spcAft>
                <a:spcPts val="700"/>
              </a:spcAft>
              <a:defRPr sz="1900">
                <a:solidFill>
                  <a:srgbClr val="202020"/>
                </a:solidFill>
              </a:defRPr>
            </a:pPr>
            <a:r>
              <a:t>• Pediatrics answers that question with growth charts. Neuroimaging answered it with brain charts (Bethlehem et al. 2022): a reference distribution over age, and a z-score per person.</a:t>
            </a:r>
          </a:p>
          <a:p>
            <a:pPr>
              <a:spcAft>
                <a:spcPts val="700"/>
              </a:spcAft>
              <a:defRPr sz="1900">
                <a:solidFill>
                  <a:srgbClr val="202020"/>
                </a:solidFill>
              </a:defRPr>
            </a:pPr>
            <a:r>
              <a:t>• Organoids had neither. Closest work, Faravelli et al. 2026, predicts an organoid's age from its transcriptome. We ask the reverse: age is known, is the composition typical?</a:t>
            </a:r>
          </a:p>
          <a:p>
            <a:pPr>
              <a:spcAft>
                <a:spcPts val="700"/>
              </a:spcAft>
              <a:defRPr sz="1900">
                <a:solidFill>
                  <a:srgbClr val="202020"/>
                </a:solidFill>
              </a:defRPr>
            </a:pPr>
            <a:r>
              <a:t>• Deliverable we promised on Monday: a centile chart per protocol with a z-score for every organoid. Stretch: how many organoids are needed to draw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Normative modelling: learn the distribution of a measure as a function of covariates, then express each individual as a deviation (z) from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5FA8"/>
                </a:solidFill>
              </a:defRPr>
            </a:pPr>
            <a:r>
              <a:t>Data: HNOCA, 1.77 M cells, summarized to 322 organoid samples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02020"/>
                </a:solidFill>
              </a:defRPr>
            </a:pPr>
            <a:r>
              <a:t>• Human Neural Organoid Cell Atlas (He et al. 2024, Nature). Public on CELLxGENE, CC BY 4.0.</a:t>
            </a:r>
          </a:p>
          <a:p>
            <a:pPr>
              <a:spcAft>
                <a:spcPts val="700"/>
              </a:spcAft>
              <a:defRPr sz="1600">
                <a:solidFill>
                  <a:srgbClr val="202020"/>
                </a:solidFill>
              </a:defRPr>
            </a:pPr>
            <a:r>
              <a:t>• Script reads only the per-cell metadata over HTTP (3 minutes, no 19 GB download), groups cells by sample, counts cell-type fractions.</a:t>
            </a:r>
          </a:p>
          <a:p>
            <a:pPr>
              <a:spcAft>
                <a:spcPts val="700"/>
              </a:spcAft>
              <a:defRPr sz="1600">
                <a:solidFill>
                  <a:srgbClr val="202020"/>
                </a:solidFill>
              </a:defRPr>
            </a:pPr>
            <a:r>
              <a:t>• One row per sample: days in culture, protocol, publication, fraction of progenitors (NPC + IP), neurons, glia, and 17 finer types.</a:t>
            </a:r>
          </a:p>
          <a:p>
            <a:pPr>
              <a:spcAft>
                <a:spcPts val="700"/>
              </a:spcAft>
              <a:defRPr sz="1600">
                <a:solidFill>
                  <a:srgbClr val="202020"/>
                </a:solidFill>
              </a:defRPr>
            </a:pPr>
            <a:r>
              <a:t>• Usable protocols: Velasco 2019 (131 samples, 4 publications, days 21 to 192) and Lancaster 2014 (81 samples, 3 publications, days 9 to 120). 22 of 27 protocols come from a single paper.</a:t>
            </a:r>
          </a:p>
          <a:p>
            <a:pPr>
              <a:spcAft>
                <a:spcPts val="700"/>
              </a:spcAft>
              <a:defRPr sz="1600">
                <a:solidFill>
                  <a:srgbClr val="202020"/>
                </a:solidFill>
              </a:defRPr>
            </a:pPr>
            <a:r>
              <a:t>• One chart per protocol: different protocols follow different trajectories, like separate charts per sex.</a:t>
            </a:r>
          </a:p>
          <a:p>
            <a:pPr>
              <a:spcAft>
                <a:spcPts val="700"/>
              </a:spcAft>
              <a:defRPr sz="1600">
                <a:solidFill>
                  <a:srgbClr val="202020"/>
                </a:solidFill>
              </a:defRPr>
            </a:pPr>
            <a:r>
              <a:t>• Fixed train/test split, stratified by age bin: 105 train, 26 test. Every number on the next slides is on the 26 held-out organoids.</a:t>
            </a:r>
          </a:p>
        </p:txBody>
      </p:sp>
      <p:pic>
        <p:nvPicPr>
          <p:cNvPr id="4" name="Picture 3" descr="blr_homo_vela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5303520" cy="3182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Right: Velasco protocol, progenitor fraction vs age, coloured by publication. Rings = held-out test samples. Curves shown are the first (naive)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5FA8"/>
                </a:solidFill>
              </a:defRPr>
            </a:pPr>
            <a:r>
              <a:t>Method: six models, one test set, pick the one whose z-scores behave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02020"/>
                </a:solidFill>
              </a:defRPr>
            </a:pPr>
            <a:r>
              <a:t>• PCNtoolkit Bayesian linear regression (BLR). Mean = cubic B-spline on age (the curve bends). Centiles = mu(age) +/- k * sigma(age). z = (y - mu) / sigma.</a:t>
            </a:r>
          </a:p>
          <a:p>
            <a:pPr>
              <a:spcAft>
                <a:spcPts val="700"/>
              </a:spcAft>
              <a:defRPr sz="1500">
                <a:solidFill>
                  <a:srgbClr val="202020"/>
                </a:solidFill>
              </a:defRPr>
            </a:pPr>
            <a:r>
              <a:t>• Added one ingredient at a time, each fixing one visible failure:</a:t>
            </a:r>
          </a:p>
          <a:p>
            <a:pPr lvl="1">
              <a:spcAft>
                <a:spcPts val="700"/>
              </a:spcAft>
              <a:defRPr sz="1200">
                <a:solidFill>
                  <a:srgbClr val="202020"/>
                </a:solidFill>
              </a:defRPr>
            </a:pPr>
            <a:r>
              <a:t>– Heteroskedastic sigma(age): spread is 3x larger at day 30 than at day 100.</a:t>
            </a:r>
          </a:p>
          <a:p>
            <a:pPr lvl="1">
              <a:spcAft>
                <a:spcPts val="700"/>
              </a:spcAft>
              <a:defRPr sz="1200">
                <a:solidFill>
                  <a:srgbClr val="202020"/>
                </a:solidFill>
              </a:defRPr>
            </a:pPr>
            <a:r>
              <a:t>– Publication as batch effect: lab offset in mean and in noise level.</a:t>
            </a:r>
          </a:p>
          <a:p>
            <a:pPr lvl="1">
              <a:spcAft>
                <a:spcPts val="700"/>
              </a:spcAft>
              <a:defRPr sz="1200">
                <a:solidFill>
                  <a:srgbClr val="202020"/>
                </a:solidFill>
              </a:defRPr>
            </a:pPr>
            <a:r>
              <a:t>– Logit transform of y: fractions are bounded at 0, Gaussian centiles went negative.</a:t>
            </a:r>
          </a:p>
          <a:p>
            <a:pPr>
              <a:spcAft>
                <a:spcPts val="700"/>
              </a:spcAft>
              <a:defRPr sz="1500">
                <a:solidFill>
                  <a:srgbClr val="202020"/>
                </a:solidFill>
              </a:defRPr>
            </a:pPr>
            <a:r>
              <a:t>• Selection rule, in order: test MSLL (scores the whole predictive distribution), z skewness near 0, per-age-bin z sd near 1, no negative 5th centile.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526280"/>
          <a:ext cx="585216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914400"/>
                <a:gridCol w="914400"/>
                <a:gridCol w="1188720"/>
              </a:tblGrid>
              <a:tr h="3017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MSLL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 skew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p5 &lt; 0 (days)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rolling-window quantiles (no model)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-0.98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BLR, constant sigma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-0.73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2.01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+ sigma(age)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-0.81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2.02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+ publication batch effect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-1.18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1.88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BLR + SinArcsinh warp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-1.12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02020"/>
                          </a:solidFill>
                        </a:defRPr>
                      </a:pPr>
                      <a:r>
                        <a:t>+ logit(y)   [final]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02020"/>
                          </a:solidFill>
                        </a:defRPr>
                      </a:pPr>
                      <a:r>
                        <a:t>-1.40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02020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alibration_blr_hetero_batch_log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577840" cy="13569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301752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020"/>
                </a:solidFill>
              </a:defRPr>
            </a:pPr>
            <a:r>
              <a:t>• Final model calibration on the 26 test organoids: z roughly N(0,1) overall, in every age bin, in every publication. Remaining skew 0.78 is driven by one test organoid at day 70 with 84% progenitors (z = +2.7).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MSLL: mean standardized log loss, more negative is better. Baseline is the teammate's model-free rolling-window quantiles (+/- 15 days).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5FA8"/>
                </a:solidFill>
              </a:defRPr>
            </a:pPr>
            <a:r>
              <a:t>Result: a growth chart for Velasco-protocol organoids, 5 of 131 flagged as atypical</a:t>
            </a:r>
          </a:p>
        </p:txBody>
      </p:sp>
      <p:pic>
        <p:nvPicPr>
          <p:cNvPr id="3" name="Picture 2" descr="final_velasco_n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8229600" cy="38888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020"/>
                </a:solidFill>
              </a:defRPr>
            </a:pPr>
            <a:r>
              <a:t>• Progenitors: ~60% at day 20, ~8% at day 100, flat after.</a:t>
            </a:r>
          </a:p>
          <a:p>
            <a:pPr>
              <a:spcAft>
                <a:spcPts val="700"/>
              </a:spcAft>
              <a:defRPr sz="1300">
                <a:solidFill>
                  <a:srgbClr val="202020"/>
                </a:solidFill>
              </a:defRPr>
            </a:pPr>
            <a:r>
              <a:t>• Band is wide early (p5 to p95: 14% to 94% at day 30), narrow late (4% to 10% at day 180). A constant-sigma model cannot do this.</a:t>
            </a:r>
          </a:p>
          <a:p>
            <a:pPr>
              <a:spcAft>
                <a:spcPts val="700"/>
              </a:spcAft>
              <a:defRPr sz="1300">
                <a:solidFill>
                  <a:srgbClr val="202020"/>
                </a:solidFill>
              </a:defRPr>
            </a:pPr>
            <a:r>
              <a:t>• 5 organoids outside |z| &gt; 1.96 (5% expected: 6.5). Three day-32 samples from one paper with almost no progenitors; one day-70 and one day-166 sample with far too many.</a:t>
            </a:r>
          </a:p>
          <a:p>
            <a:pPr>
              <a:spcAft>
                <a:spcPts val="700"/>
              </a:spcAft>
              <a:defRPr sz="1300">
                <a:solidFill>
                  <a:srgbClr val="202020"/>
                </a:solidFill>
              </a:defRPr>
            </a:pPr>
            <a:r>
              <a:t>• Every organoid in HNOCA now has a z-score in results/final_velasco_npc/zscores.csv.</a:t>
            </a:r>
          </a:p>
          <a:p>
            <a:pPr>
              <a:spcAft>
                <a:spcPts val="700"/>
              </a:spcAft>
              <a:defRPr sz="1300">
                <a:solidFill>
                  <a:srgbClr val="202020"/>
                </a:solidFill>
              </a:defRPr>
            </a:pPr>
            <a:r>
              <a:t>• Curves are drawn for Paulsen 2022, the largest publication; other labs have their own offset.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Test EV 0.77, SMSE 0.27, MSLL -1.40. Rings = held-out test samples. Red rings = |z| &gt; 1.96.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5FA8"/>
                </a:solidFill>
              </a:defRPr>
            </a:pPr>
            <a:r>
              <a:t>Same function, other cell types and the second protocol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src/growth_chart.py: one call per chart</a:t>
            </a:r>
          </a:p>
        </p:txBody>
      </p:sp>
      <p:pic>
        <p:nvPicPr>
          <p:cNvPr id="3" name="Picture 2" descr="final_overview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863840" cy="4718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371600"/>
            <a:ext cx="3566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020"/>
                </a:solidFill>
              </a:defRPr>
            </a:pPr>
            <a:r>
              <a:t>• Velasco neuron: mirror image of progenitors. Test MSLL -1.15, z skew -0.47, no sample flagged.</a:t>
            </a:r>
          </a:p>
          <a:p>
            <a:pPr>
              <a:spcAft>
                <a:spcPts val="700"/>
              </a:spcAft>
              <a:defRPr sz="1300">
                <a:solidFill>
                  <a:srgbClr val="202020"/>
                </a:solidFill>
              </a:defRPr>
            </a:pPr>
            <a:r>
              <a:t>• Velasco glia: near zero before day 90, rises after. MSLL -3.25.</a:t>
            </a:r>
          </a:p>
          <a:p>
            <a:pPr>
              <a:spcAft>
                <a:spcPts val="700"/>
              </a:spcAft>
              <a:defRPr sz="1300">
                <a:solidFill>
                  <a:srgbClr val="202020"/>
                </a:solidFill>
              </a:defRPr>
            </a:pPr>
            <a:r>
              <a:t>• Lancaster NPC: 81 samples but no data between day 63 and 120, test z sd 1.6. The band balloons where there is nothing to fit. A demo of the method and a warning, not a result.</a:t>
            </a:r>
          </a:p>
          <a:p>
            <a:pPr>
              <a:spcAft>
                <a:spcPts val="700"/>
              </a:spcAft>
              <a:defRPr sz="1300">
                <a:solidFill>
                  <a:srgbClr val="202020"/>
                </a:solidFill>
              </a:defRPr>
            </a:pPr>
            <a:r>
              <a:t>• Each chart: one call to fit_growth_chart(df, y_col) plus one to plot_growth_chart().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All charts drawn for the largest publication of each protocol (Paulsen 2022 for Velasco, Kanton 2019 for Lancaster).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5FA8"/>
                </a:solidFill>
              </a:defRPr>
            </a:pPr>
            <a:r>
              <a:t>How many organoids does a lab need? About 40 to start, 80 to be stable</a:t>
            </a:r>
          </a:p>
        </p:txBody>
      </p:sp>
      <p:pic>
        <p:nvPicPr>
          <p:cNvPr id="3" name="Picture 2" descr="subsampling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680960" cy="275234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83879" y="1325880"/>
          <a:ext cx="37490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822960"/>
                <a:gridCol w="822960"/>
              </a:tblGrid>
              <a:tr h="3017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 train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median curve moves (pp)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MSLL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z sd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2.07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2.49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-1.14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1.22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-1.38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-1.40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83879" y="301752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02020"/>
                </a:solidFill>
              </a:defRPr>
            </a:pPr>
            <a:r>
              <a:t>• Refit the final model on stratified random subsets of the 105 train organoids, 10 draws each.</a:t>
            </a:r>
          </a:p>
          <a:p>
            <a:pPr>
              <a:spcAft>
                <a:spcPts val="700"/>
              </a:spcAft>
              <a:defRPr sz="1200">
                <a:solidFill>
                  <a:srgbClr val="202020"/>
                </a:solidFill>
              </a:defRPr>
            </a:pPr>
            <a:r>
              <a:t>• n = 20: median curve off by ~5 pp, MSLL positive (worse than guessing the mean), z sd 2.5. Unusable.</a:t>
            </a:r>
          </a:p>
          <a:p>
            <a:pPr>
              <a:spcAft>
                <a:spcPts val="700"/>
              </a:spcAft>
              <a:defRPr sz="1200">
                <a:solidFill>
                  <a:srgbClr val="202020"/>
                </a:solidFill>
              </a:defRPr>
            </a:pPr>
            <a:r>
              <a:t>• n = 40: curve within ~2 pp, MSLL -1.1, z sd 1.2. A first chart.</a:t>
            </a:r>
          </a:p>
          <a:p>
            <a:pPr>
              <a:spcAft>
                <a:spcPts val="700"/>
              </a:spcAft>
              <a:defRPr sz="1200">
                <a:solidFill>
                  <a:srgbClr val="202020"/>
                </a:solidFill>
              </a:defRPr>
            </a:pPr>
            <a:r>
              <a:t>• n = 80: within ~1 pp, MSLL within 0.02 of the full fit. Stable.</a:t>
            </a:r>
          </a:p>
          <a:p>
            <a:pPr>
              <a:spcAft>
                <a:spcPts val="700"/>
              </a:spcAft>
              <a:defRPr sz="1200">
                <a:solidFill>
                  <a:srgbClr val="202020"/>
                </a:solidFill>
              </a:defRPr>
            </a:pPr>
            <a:r>
              <a:t>• Below ~10 organoids per lab the batch-effect model is worse than ignoring labs (orange beats blue at n = 20).</a:t>
            </a:r>
          </a:p>
          <a:p>
            <a:pPr>
              <a:spcAft>
                <a:spcPts val="700"/>
              </a:spcAft>
              <a:defRPr sz="1200">
                <a:solidFill>
                  <a:srgbClr val="202020"/>
                </a:solidFill>
              </a:defRPr>
            </a:pPr>
            <a:r>
              <a:t>• Caveat: subsets are drawn from the same 105 samples, so stability at n = 80 is optimistic.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pp = percentage points of progenitor fraction, averaged over the age grid. This is the number labs currently guess.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5FA8"/>
                </a:solidFill>
              </a:defRPr>
            </a:pPr>
            <a:r>
              <a:t>What this is, what it is not, 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02020"/>
                </a:solidFill>
              </a:defRPr>
            </a:pPr>
            <a:r>
              <a:t>• What we have: a working pipeline from a public atlas to a calibrated centile chart with per-organoid z-scores, in one public repo, reproducible in minutes.</a:t>
            </a:r>
          </a:p>
          <a:p>
            <a:pPr>
              <a:spcAft>
                <a:spcPts val="700"/>
              </a:spcAft>
              <a:defRPr sz="1600">
                <a:solidFill>
                  <a:srgbClr val="202020"/>
                </a:solidFill>
              </a:defRPr>
            </a:pPr>
            <a:r>
              <a:t>• Limits:</a:t>
            </a:r>
          </a:p>
          <a:p>
            <a:pPr lvl="1">
              <a:spcAft>
                <a:spcPts val="700"/>
              </a:spcAft>
              <a:defRPr sz="1300">
                <a:solidFill>
                  <a:srgbClr val="202020"/>
                </a:solidFill>
              </a:defRPr>
            </a:pPr>
            <a:r>
              <a:t>– 131 samples, not 100,000. Bands are honest about that: they carry the posterior uncertainty of the curve.</a:t>
            </a:r>
          </a:p>
          <a:p>
            <a:pPr lvl="1">
              <a:spcAft>
                <a:spcPts val="700"/>
              </a:spcAft>
              <a:defRPr sz="1300">
                <a:solidFill>
                  <a:srgbClr val="202020"/>
                </a:solidFill>
              </a:defRPr>
            </a:pPr>
            <a:r>
              <a:t>– A 'sample' is one sequencing library; HNOCA does not say whether it is one organoid or a pool.</a:t>
            </a:r>
          </a:p>
          <a:p>
            <a:pPr lvl="1">
              <a:spcAft>
                <a:spcPts val="700"/>
              </a:spcAft>
              <a:defRPr sz="1300">
                <a:solidFill>
                  <a:srgbClr val="202020"/>
                </a:solidFill>
              </a:defRPr>
            </a:pPr>
            <a:r>
              <a:t>– Publication and age are confounded (Velasco 2019 has no sample before day 101). The lab offset for that paper is partly extrapolated.</a:t>
            </a:r>
          </a:p>
          <a:p>
            <a:pPr lvl="1">
              <a:spcAft>
                <a:spcPts val="700"/>
              </a:spcAft>
              <a:defRPr sz="1300">
                <a:solidFill>
                  <a:srgbClr val="202020"/>
                </a:solidFill>
              </a:defRPr>
            </a:pPr>
            <a:r>
              <a:t>– Composition fractions sum to 1; we model each one separately. A compositional model is the proper next step.</a:t>
            </a:r>
          </a:p>
          <a:p>
            <a:pPr>
              <a:spcAft>
                <a:spcPts val="700"/>
              </a:spcAft>
              <a:defRPr sz="1600">
                <a:solidFill>
                  <a:srgbClr val="202020"/>
                </a:solidFill>
              </a:defRPr>
            </a:pPr>
            <a:r>
              <a:t>• Next: add new datasets as they appear (every HNOCA update is a free refit); try Dirichlet or logistic-normal likelihood; apply to a disease or drug-treated organoid set and ask which cell types leave the normal band first.</a:t>
            </a:r>
          </a:p>
          <a:p>
            <a:pPr>
              <a:spcAft>
                <a:spcPts val="700"/>
              </a:spcAft>
              <a:defRPr sz="1600">
                <a:solidFill>
                  <a:srgbClr val="202020"/>
                </a:solidFill>
              </a:defRPr>
            </a:pPr>
            <a:r>
              <a:t>• Thanks: Johanna Bayer's normative modelling tutorial (Oct 2), the PCNtoolkit team, the HNOCA authors, Brainhack Montreal organizers.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github.com/Liberty23513/organoid-growth-charts  |  data: He et al. 2024 Nature (CC BY 4.0)  |  method: Rutherford et al. 2022 Nat Protoc, PCNtoolkit 1.3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